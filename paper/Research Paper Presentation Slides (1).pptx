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IBM Plex Sans"/>
      <p:regular r:id="rId16"/>
      <p:bold r:id="rId17"/>
      <p:italic r:id="rId18"/>
      <p:boldItalic r:id="rId19"/>
    </p:embeddedFont>
    <p:embeddedFont>
      <p:font typeface="Work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WorkSans-regular.fntdata"/><Relationship Id="rId11" Type="http://schemas.openxmlformats.org/officeDocument/2006/relationships/slide" Target="slides/slide6.xml"/><Relationship Id="rId22" Type="http://schemas.openxmlformats.org/officeDocument/2006/relationships/font" Target="fonts/WorkSans-italic.fntdata"/><Relationship Id="rId10" Type="http://schemas.openxmlformats.org/officeDocument/2006/relationships/slide" Target="slides/slide5.xml"/><Relationship Id="rId21" Type="http://schemas.openxmlformats.org/officeDocument/2006/relationships/font" Target="fonts/WorkSans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Work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BMPlexSans-bold.fntdata"/><Relationship Id="rId16" Type="http://schemas.openxmlformats.org/officeDocument/2006/relationships/font" Target="fonts/IBMPlex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BMPlexSans-boldItalic.fntdata"/><Relationship Id="rId6" Type="http://schemas.openxmlformats.org/officeDocument/2006/relationships/slide" Target="slides/slide1.xml"/><Relationship Id="rId18" Type="http://schemas.openxmlformats.org/officeDocument/2006/relationships/font" Target="fonts/IBMPlex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slide_page-1784154454019-175409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slide_page-1784154454019-175409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slide_page-1784154454039-7594698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slide_page-1784154454039-7594698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slide_page-1784154454041-303281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slide_page-1784154454041-303281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slide_page-1784154454042-3936625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slide_page-1784154454042-3936625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slide_page-1784154454043-7074380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slide_page-1784154454043-7074380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slide_page-1784154454044-3404358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slide_page-1784154454044-3404358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slide_page-1784154454044-1024857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slide_page-1784154454044-1024857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slide_page-1784154454045-707842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slide_page-1784154454045-707842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slide_page-1784154454046-3174596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slide_page-1784154454046-3174596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slide_page-1784154454048-3769855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slide_page-1784154454048-3769855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11" Type="http://schemas.openxmlformats.org/officeDocument/2006/relationships/image" Target="../media/image11.png"/><Relationship Id="rId10" Type="http://schemas.openxmlformats.org/officeDocument/2006/relationships/image" Target="../media/image13.png"/><Relationship Id="rId12" Type="http://schemas.openxmlformats.org/officeDocument/2006/relationships/image" Target="../media/image8.png"/><Relationship Id="rId9" Type="http://schemas.openxmlformats.org/officeDocument/2006/relationships/image" Target="../media/image1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14.png"/><Relationship Id="rId8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20.png"/><Relationship Id="rId5" Type="http://schemas.openxmlformats.org/officeDocument/2006/relationships/image" Target="../media/image16.png"/><Relationship Id="rId6" Type="http://schemas.openxmlformats.org/officeDocument/2006/relationships/image" Target="../media/image15.png"/><Relationship Id="rId7" Type="http://schemas.openxmlformats.org/officeDocument/2006/relationships/image" Target="../media/image1.png"/><Relationship Id="rId8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3.png"/><Relationship Id="rId4" Type="http://schemas.openxmlformats.org/officeDocument/2006/relationships/image" Target="../media/image28.png"/><Relationship Id="rId5" Type="http://schemas.openxmlformats.org/officeDocument/2006/relationships/image" Target="../media/image2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9.png"/><Relationship Id="rId4" Type="http://schemas.openxmlformats.org/officeDocument/2006/relationships/image" Target="../media/image3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25.png"/><Relationship Id="rId7" Type="http://schemas.openxmlformats.org/officeDocument/2006/relationships/image" Target="../media/image3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7.png"/><Relationship Id="rId4" Type="http://schemas.openxmlformats.org/officeDocument/2006/relationships/image" Target="../media/image3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2.png"/><Relationship Id="rId6" Type="http://schemas.openxmlformats.org/officeDocument/2006/relationships/image" Target="../media/image48.png"/><Relationship Id="rId7" Type="http://schemas.openxmlformats.org/officeDocument/2006/relationships/image" Target="../media/image4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45.png"/><Relationship Id="rId6" Type="http://schemas.openxmlformats.org/officeDocument/2006/relationships/image" Target="../media/image5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0"/>
            <a:ext cx="133500" cy="5143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441960" y="327660"/>
            <a:ext cx="42024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2563EB"/>
                </a:solidFill>
                <a:latin typeface="IBM Plex Sans"/>
                <a:ea typeface="IBM Plex Sans"/>
                <a:cs typeface="IBM Plex Sans"/>
                <a:sym typeface="IBM Plex Sans"/>
              </a:rPr>
              <a:t>RESEARCH PRESENTATION</a:t>
            </a:r>
            <a:endParaRPr b="1" sz="1350">
              <a:solidFill>
                <a:srgbClr val="2563E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62517" y="488922"/>
            <a:ext cx="57564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F2A43"/>
                </a:solidFill>
                <a:latin typeface="Work Sans"/>
                <a:ea typeface="Work Sans"/>
                <a:cs typeface="Work Sans"/>
                <a:sym typeface="Work Sans"/>
              </a:rPr>
              <a:t>EnterpriseSynth: Agentic SFT + Eval Data from API Schemas Without Live Execution </a:t>
            </a:r>
            <a:endParaRPr b="1" sz="2400">
              <a:solidFill>
                <a:srgbClr val="0F2A43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055" y="3276002"/>
            <a:ext cx="15240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357965" y="3260762"/>
            <a:ext cx="1459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2563EB"/>
                </a:solidFill>
                <a:latin typeface="IBM Plex Sans"/>
                <a:ea typeface="IBM Plex Sans"/>
                <a:cs typeface="IBM Plex Sans"/>
                <a:sym typeface="IBM Plex Sans"/>
              </a:rPr>
              <a:t>OFFLINE</a:t>
            </a:r>
            <a:endParaRPr b="1" sz="1350">
              <a:solidFill>
                <a:srgbClr val="2563E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59" name="Google Shape;5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97974" y="3276002"/>
            <a:ext cx="15240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 txBox="1"/>
          <p:nvPr/>
        </p:nvSpPr>
        <p:spPr>
          <a:xfrm>
            <a:off x="3239884" y="3260762"/>
            <a:ext cx="1459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047857"/>
                </a:solidFill>
                <a:latin typeface="IBM Plex Sans"/>
                <a:ea typeface="IBM Plex Sans"/>
                <a:cs typeface="IBM Plex Sans"/>
                <a:sym typeface="IBM Plex Sans"/>
              </a:rPr>
              <a:t>VERIFIED</a:t>
            </a:r>
            <a:endParaRPr b="1" sz="1350">
              <a:solidFill>
                <a:srgbClr val="047857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91250" y="666750"/>
            <a:ext cx="2152650" cy="14668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"/>
          <p:cNvSpPr txBox="1"/>
          <p:nvPr/>
        </p:nvSpPr>
        <p:spPr>
          <a:xfrm>
            <a:off x="6290310" y="746760"/>
            <a:ext cx="1973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0F2A43"/>
                </a:solidFill>
                <a:latin typeface="IBM Plex Sans"/>
                <a:ea typeface="IBM Plex Sans"/>
                <a:cs typeface="IBM Plex Sans"/>
                <a:sym typeface="IBM Plex Sans"/>
              </a:rPr>
              <a:t>OPENAPI SCHEMA</a:t>
            </a:r>
            <a:endParaRPr b="1" sz="1350">
              <a:solidFill>
                <a:srgbClr val="0F2A4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63" name="Google Shape;63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81750" y="1219200"/>
            <a:ext cx="142875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81750" y="1409700"/>
            <a:ext cx="17526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81750" y="1600200"/>
            <a:ext cx="1219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381750" y="1790700"/>
            <a:ext cx="1600200" cy="76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" name="Google Shape;67;p13"/>
          <p:cNvCxnSpPr/>
          <p:nvPr/>
        </p:nvCxnSpPr>
        <p:spPr>
          <a:xfrm>
            <a:off x="7267575" y="2324100"/>
            <a:ext cx="9600" cy="495300"/>
          </a:xfrm>
          <a:prstGeom prst="straightConnector1">
            <a:avLst/>
          </a:prstGeom>
          <a:noFill/>
          <a:ln cap="flat" cmpd="sng" w="38100">
            <a:solidFill>
              <a:srgbClr val="2563EB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68" name="Google Shape;68;p1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191250" y="3009900"/>
            <a:ext cx="2152650" cy="146685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3"/>
          <p:cNvSpPr txBox="1"/>
          <p:nvPr/>
        </p:nvSpPr>
        <p:spPr>
          <a:xfrm>
            <a:off x="6290310" y="3089910"/>
            <a:ext cx="1973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F7FAFC"/>
                </a:solidFill>
                <a:latin typeface="IBM Plex Sans"/>
                <a:ea typeface="IBM Plex Sans"/>
                <a:cs typeface="IBM Plex Sans"/>
                <a:sym typeface="IBM Plex Sans"/>
              </a:rPr>
              <a:t>VERIFIED TRACE</a:t>
            </a:r>
            <a:endParaRPr b="1" sz="1350">
              <a:solidFill>
                <a:srgbClr val="F7FAFC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0" name="Google Shape;70;p13"/>
          <p:cNvSpPr/>
          <p:nvPr/>
        </p:nvSpPr>
        <p:spPr>
          <a:xfrm>
            <a:off x="6381750" y="3600450"/>
            <a:ext cx="266700" cy="2667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762750" y="3600450"/>
            <a:ext cx="1352550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3"/>
          <p:cNvSpPr/>
          <p:nvPr/>
        </p:nvSpPr>
        <p:spPr>
          <a:xfrm>
            <a:off x="6381750" y="4000500"/>
            <a:ext cx="266700" cy="2667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1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762750" y="4000500"/>
            <a:ext cx="1066800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3"/>
          <p:cNvSpPr/>
          <p:nvPr/>
        </p:nvSpPr>
        <p:spPr>
          <a:xfrm>
            <a:off x="7848600" y="3943350"/>
            <a:ext cx="266700" cy="2667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3"/>
          <p:cNvSpPr txBox="1"/>
          <p:nvPr/>
        </p:nvSpPr>
        <p:spPr>
          <a:xfrm>
            <a:off x="224615" y="4537710"/>
            <a:ext cx="8298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64748B"/>
                </a:solidFill>
                <a:latin typeface="IBM Plex Sans"/>
                <a:ea typeface="IBM Plex Sans"/>
                <a:cs typeface="IBM Plex Sans"/>
                <a:sym typeface="IBM Plex Sans"/>
              </a:rPr>
              <a:t>Schema-aware agentic framework · Proof of concept and viability</a:t>
            </a:r>
            <a:endParaRPr sz="1350">
              <a:solidFill>
                <a:srgbClr val="64748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/>
        </p:nvSpPr>
        <p:spPr>
          <a:xfrm>
            <a:off x="403860" y="194310"/>
            <a:ext cx="8012400" cy="77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990">
                <a:solidFill>
                  <a:srgbClr val="0F2A43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execution bottleneck</a:t>
            </a:r>
            <a:endParaRPr b="1" sz="3990">
              <a:solidFill>
                <a:srgbClr val="0F2A4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1" name="Google Shape;81;p14"/>
          <p:cNvSpPr txBox="1"/>
          <p:nvPr/>
        </p:nvSpPr>
        <p:spPr>
          <a:xfrm>
            <a:off x="422910" y="937260"/>
            <a:ext cx="7631400" cy="5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83">
                <a:solidFill>
                  <a:srgbClr val="475569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Traditional data generation assumes APIs can be called safely and repeatedly.</a:t>
            </a:r>
            <a:endParaRPr sz="1683">
              <a:solidFill>
                <a:srgbClr val="475569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82" name="Google Shape;8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888" y="1657350"/>
            <a:ext cx="2600325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850" y="1866900"/>
            <a:ext cx="4953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9150" y="198120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4"/>
          <p:cNvSpPr txBox="1"/>
          <p:nvPr/>
        </p:nvSpPr>
        <p:spPr>
          <a:xfrm>
            <a:off x="613410" y="2442210"/>
            <a:ext cx="2386200" cy="5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0F172A"/>
                </a:solidFill>
                <a:latin typeface="IBM Plex Sans"/>
                <a:ea typeface="IBM Plex Sans"/>
                <a:cs typeface="IBM Plex Sans"/>
                <a:sym typeface="IBM Plex Sans"/>
              </a:rPr>
              <a:t>Sandbox limits</a:t>
            </a:r>
            <a:endParaRPr b="1" sz="2100">
              <a:solidFill>
                <a:srgbClr val="0F172A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6" name="Google Shape;86;p14"/>
          <p:cNvSpPr txBox="1"/>
          <p:nvPr/>
        </p:nvSpPr>
        <p:spPr>
          <a:xfrm>
            <a:off x="613410" y="2937510"/>
            <a:ext cx="2386200" cy="10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75">
                <a:solidFill>
                  <a:srgbClr val="475569"/>
                </a:solidFill>
                <a:latin typeface="IBM Plex Sans"/>
                <a:ea typeface="IBM Plex Sans"/>
                <a:cs typeface="IBM Plex Sans"/>
                <a:sym typeface="IBM Plex Sans"/>
              </a:rPr>
              <a:t>Enterprise APIs may be unavailable, costly, or impossible to execute in isolated environments.</a:t>
            </a:r>
            <a:endParaRPr sz="1275">
              <a:solidFill>
                <a:srgbClr val="475569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87" name="Google Shape;8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1838" y="1657350"/>
            <a:ext cx="2600325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79800" y="1866900"/>
            <a:ext cx="4953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94100" y="198120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4"/>
          <p:cNvSpPr txBox="1"/>
          <p:nvPr/>
        </p:nvSpPr>
        <p:spPr>
          <a:xfrm>
            <a:off x="3388360" y="2442210"/>
            <a:ext cx="2386200" cy="5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0F172A"/>
                </a:solidFill>
                <a:latin typeface="IBM Plex Sans"/>
                <a:ea typeface="IBM Plex Sans"/>
                <a:cs typeface="IBM Plex Sans"/>
                <a:sym typeface="IBM Plex Sans"/>
              </a:rPr>
              <a:t>Privacy risk</a:t>
            </a:r>
            <a:endParaRPr b="1" sz="2100">
              <a:solidFill>
                <a:srgbClr val="0F172A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3388360" y="2937510"/>
            <a:ext cx="2386200" cy="10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475569"/>
                </a:solidFill>
                <a:latin typeface="IBM Plex Sans"/>
                <a:ea typeface="IBM Plex Sans"/>
                <a:cs typeface="IBM Plex Sans"/>
                <a:sym typeface="IBM Plex Sans"/>
              </a:rPr>
              <a:t>Live traces can expose credentials, sensitive data, and operational behavior.</a:t>
            </a:r>
            <a:endParaRPr sz="1450">
              <a:solidFill>
                <a:srgbClr val="475569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92" name="Google Shape;9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6788" y="1657350"/>
            <a:ext cx="2600325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54750" y="1866900"/>
            <a:ext cx="4953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69050" y="198120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6163310" y="2442210"/>
            <a:ext cx="2386200" cy="5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0F172A"/>
                </a:solidFill>
                <a:latin typeface="IBM Plex Sans"/>
                <a:ea typeface="IBM Plex Sans"/>
                <a:cs typeface="IBM Plex Sans"/>
                <a:sym typeface="IBM Plex Sans"/>
              </a:rPr>
              <a:t>Rate constraints</a:t>
            </a:r>
            <a:endParaRPr b="1" sz="2100">
              <a:solidFill>
                <a:srgbClr val="0F172A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6163310" y="2937510"/>
            <a:ext cx="2386200" cy="10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6">
                <a:solidFill>
                  <a:srgbClr val="475569"/>
                </a:solidFill>
                <a:latin typeface="IBM Plex Sans"/>
                <a:ea typeface="IBM Plex Sans"/>
                <a:cs typeface="IBM Plex Sans"/>
                <a:sym typeface="IBM Plex Sans"/>
              </a:rPr>
              <a:t>Infrastructure quotas and rate limits make large-scale trajectory collection brittle.</a:t>
            </a:r>
            <a:endParaRPr sz="1406">
              <a:solidFill>
                <a:srgbClr val="475569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97" name="Google Shape;97;p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95300" y="4400550"/>
            <a:ext cx="81534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75310" y="4423410"/>
            <a:ext cx="1725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10B981"/>
                </a:solidFill>
                <a:latin typeface="IBM Plex Sans"/>
                <a:ea typeface="IBM Plex Sans"/>
                <a:cs typeface="IBM Plex Sans"/>
                <a:sym typeface="IBM Plex Sans"/>
              </a:rPr>
              <a:t>CORE QUESTION</a:t>
            </a:r>
            <a:endParaRPr b="1" sz="1350">
              <a:solidFill>
                <a:srgbClr val="10B98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2232660" y="4413885"/>
            <a:ext cx="63552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7FAFC"/>
                </a:solidFill>
                <a:latin typeface="IBM Plex Sans"/>
                <a:ea typeface="IBM Plex Sans"/>
                <a:cs typeface="IBM Plex Sans"/>
                <a:sym typeface="IBM Plex Sans"/>
              </a:rPr>
              <a:t>Can the specification itself become the data source?</a:t>
            </a:r>
            <a:endParaRPr sz="1500">
              <a:solidFill>
                <a:srgbClr val="F7FAFC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A43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/>
        </p:nvSpPr>
        <p:spPr>
          <a:xfrm>
            <a:off x="422910" y="822960"/>
            <a:ext cx="8298300" cy="13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91">
                <a:solidFill>
                  <a:srgbClr val="F7FAFC"/>
                </a:solidFill>
                <a:latin typeface="IBM Plex Sans"/>
                <a:ea typeface="IBM Plex Sans"/>
                <a:cs typeface="IBM Plex Sans"/>
                <a:sym typeface="IBM Plex Sans"/>
              </a:rPr>
              <a:t>Useful agent behavior can be synthesized from structure—not execution.</a:t>
            </a:r>
            <a:endParaRPr b="1" sz="3191">
              <a:solidFill>
                <a:srgbClr val="F7FAFC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105" name="Google Shape;10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620" y="2647950"/>
            <a:ext cx="1981200" cy="12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594360" y="2756535"/>
            <a:ext cx="1842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94A3B8"/>
                </a:solidFill>
                <a:latin typeface="IBM Plex Sans"/>
                <a:ea typeface="IBM Plex Sans"/>
                <a:cs typeface="IBM Plex Sans"/>
                <a:sym typeface="IBM Plex Sans"/>
              </a:rPr>
              <a:t>INPUT</a:t>
            </a:r>
            <a:endParaRPr b="1" sz="1350">
              <a:solidFill>
                <a:srgbClr val="94A3B8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594360" y="3080385"/>
            <a:ext cx="18429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46">
                <a:solidFill>
                  <a:srgbClr val="F7FAFC"/>
                </a:solidFill>
                <a:latin typeface="IBM Plex Sans"/>
                <a:ea typeface="IBM Plex Sans"/>
                <a:cs typeface="IBM Plex Sans"/>
                <a:sym typeface="IBM Plex Sans"/>
              </a:rPr>
              <a:t>OpenAPI specification</a:t>
            </a:r>
            <a:endParaRPr b="1" sz="1746">
              <a:solidFill>
                <a:srgbClr val="F7FAFC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08" name="Google Shape;108;p15"/>
          <p:cNvCxnSpPr/>
          <p:nvPr/>
        </p:nvCxnSpPr>
        <p:spPr>
          <a:xfrm>
            <a:off x="2660396" y="3276600"/>
            <a:ext cx="514500" cy="9600"/>
          </a:xfrm>
          <a:prstGeom prst="straightConnector1">
            <a:avLst/>
          </a:prstGeom>
          <a:noFill/>
          <a:ln cap="flat" cmpd="sng" w="38100">
            <a:solidFill>
              <a:srgbClr val="60A5FA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09" name="Google Shape;10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9938" y="2647950"/>
            <a:ext cx="2524125" cy="12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3389630" y="2756535"/>
            <a:ext cx="2383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DBEAFE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PROCESS</a:t>
            </a:r>
            <a:endParaRPr b="1" sz="1350">
              <a:solidFill>
                <a:srgbClr val="DBEAFE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3389630" y="3080385"/>
            <a:ext cx="23838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46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Schema-aware synthesis</a:t>
            </a:r>
            <a:endParaRPr b="1" sz="1746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12" name="Google Shape;112;p15"/>
          <p:cNvCxnSpPr/>
          <p:nvPr/>
        </p:nvCxnSpPr>
        <p:spPr>
          <a:xfrm>
            <a:off x="5996686" y="3276600"/>
            <a:ext cx="514500" cy="9600"/>
          </a:xfrm>
          <a:prstGeom prst="straightConnector1">
            <a:avLst/>
          </a:prstGeom>
          <a:noFill/>
          <a:ln cap="flat" cmpd="sng" w="38100">
            <a:solidFill>
              <a:srgbClr val="60A5FA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13" name="Google Shape;11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47180" y="2647950"/>
            <a:ext cx="1981200" cy="12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6725920" y="2756535"/>
            <a:ext cx="1842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D1FAE5"/>
                </a:solidFill>
                <a:latin typeface="IBM Plex Sans"/>
                <a:ea typeface="IBM Plex Sans"/>
                <a:cs typeface="IBM Plex Sans"/>
                <a:sym typeface="IBM Plex Sans"/>
              </a:rPr>
              <a:t>OUTPUT</a:t>
            </a:r>
            <a:endParaRPr b="1" sz="1350">
              <a:solidFill>
                <a:srgbClr val="D1FAE5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6725920" y="3080385"/>
            <a:ext cx="18429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76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Verified traces</a:t>
            </a:r>
            <a:endParaRPr b="1" sz="1876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116" name="Google Shape;116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4350" y="4533900"/>
            <a:ext cx="11430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1680210" y="4328160"/>
            <a:ext cx="7059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CBD5E1"/>
                </a:solidFill>
                <a:latin typeface="IBM Plex Sans"/>
                <a:ea typeface="IBM Plex Sans"/>
                <a:cs typeface="IBM Plex Sans"/>
                <a:sym typeface="IBM Plex Sans"/>
              </a:rPr>
              <a:t>Zero API keys · Zero calls · Deterministic schema checks</a:t>
            </a:r>
            <a:endParaRPr sz="1500">
              <a:solidFill>
                <a:srgbClr val="CBD5E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/>
        </p:nvSpPr>
        <p:spPr>
          <a:xfrm>
            <a:off x="365760" y="194310"/>
            <a:ext cx="6107400" cy="7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21">
                <a:solidFill>
                  <a:srgbClr val="0F2A43"/>
                </a:solidFill>
                <a:latin typeface="IBM Plex Sans"/>
                <a:ea typeface="IBM Plex Sans"/>
                <a:cs typeface="IBM Plex Sans"/>
                <a:sym typeface="IBM Plex Sans"/>
              </a:rPr>
              <a:t>EnterpriseSynth at a glance</a:t>
            </a:r>
            <a:endParaRPr b="1" sz="3521">
              <a:solidFill>
                <a:srgbClr val="0F2A4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6785610" y="356235"/>
            <a:ext cx="2011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2563EB"/>
                </a:solidFill>
                <a:latin typeface="IBM Plex Sans"/>
                <a:ea typeface="IBM Plex Sans"/>
                <a:cs typeface="IBM Plex Sans"/>
                <a:sym typeface="IBM Plex Sans"/>
              </a:rPr>
              <a:t>SYSTEM OVERVIEW</a:t>
            </a:r>
            <a:endParaRPr b="1" sz="1350">
              <a:solidFill>
                <a:srgbClr val="2563E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124" name="Google Shape;12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009650"/>
            <a:ext cx="8229600" cy="352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0754" y="1143000"/>
            <a:ext cx="4882492" cy="325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" y="4800600"/>
            <a:ext cx="6858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1203960" y="4613910"/>
            <a:ext cx="7593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475569"/>
                </a:solidFill>
                <a:latin typeface="IBM Plex Sans"/>
                <a:ea typeface="IBM Plex Sans"/>
                <a:cs typeface="IBM Plex Sans"/>
                <a:sym typeface="IBM Plex Sans"/>
              </a:rPr>
              <a:t>Four stages convert an API schema into SFT and evaluation datasets.</a:t>
            </a:r>
            <a:endParaRPr sz="1350">
              <a:solidFill>
                <a:srgbClr val="475569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/>
          <p:nvPr/>
        </p:nvSpPr>
        <p:spPr>
          <a:xfrm>
            <a:off x="384810" y="232410"/>
            <a:ext cx="8393400" cy="77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66">
                <a:solidFill>
                  <a:srgbClr val="0F2A43"/>
                </a:solidFill>
                <a:latin typeface="IBM Plex Sans"/>
                <a:ea typeface="IBM Plex Sans"/>
                <a:cs typeface="IBM Plex Sans"/>
                <a:sym typeface="IBM Plex Sans"/>
              </a:rPr>
              <a:t>A four-stage synthesis pipeline</a:t>
            </a:r>
            <a:endParaRPr b="1" sz="3866">
              <a:solidFill>
                <a:srgbClr val="0F2A4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403860" y="842010"/>
            <a:ext cx="80124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75569"/>
                </a:solidFill>
                <a:latin typeface="IBM Plex Sans"/>
                <a:ea typeface="IBM Plex Sans"/>
                <a:cs typeface="IBM Plex Sans"/>
                <a:sym typeface="IBM Plex Sans"/>
              </a:rPr>
              <a:t>Each stage narrows the space of possible agent behavior.</a:t>
            </a:r>
            <a:endParaRPr sz="1800">
              <a:solidFill>
                <a:srgbClr val="475569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134" name="Google Shape;13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250" y="1724025"/>
            <a:ext cx="1704975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556260" y="1804035"/>
            <a:ext cx="15639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88">
                <a:solidFill>
                  <a:srgbClr val="2563EB"/>
                </a:solidFill>
                <a:latin typeface="IBM Plex Sans"/>
                <a:ea typeface="IBM Plex Sans"/>
                <a:cs typeface="IBM Plex Sans"/>
                <a:sym typeface="IBM Plex Sans"/>
              </a:rPr>
              <a:t>01</a:t>
            </a:r>
            <a:endParaRPr b="1" sz="2888">
              <a:solidFill>
                <a:srgbClr val="2563E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556260" y="2373110"/>
            <a:ext cx="1563900" cy="7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66">
                <a:solidFill>
                  <a:srgbClr val="0F172A"/>
                </a:solidFill>
                <a:latin typeface="IBM Plex Sans"/>
                <a:ea typeface="IBM Plex Sans"/>
                <a:cs typeface="IBM Plex Sans"/>
                <a:sym typeface="IBM Plex Sans"/>
              </a:rPr>
              <a:t>API schema parsing</a:t>
            </a:r>
            <a:endParaRPr b="1" sz="1866">
              <a:solidFill>
                <a:srgbClr val="0F172A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556260" y="3070687"/>
            <a:ext cx="1563900" cy="9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10">
                <a:solidFill>
                  <a:srgbClr val="475569"/>
                </a:solidFill>
                <a:latin typeface="IBM Plex Sans"/>
                <a:ea typeface="IBM Plex Sans"/>
                <a:cs typeface="IBM Plex Sans"/>
                <a:sym typeface="IBM Plex Sans"/>
              </a:rPr>
              <a:t>Extract endpoints, methods, parameters, schemas, and authentication descriptions.</a:t>
            </a:r>
            <a:endParaRPr sz="910">
              <a:solidFill>
                <a:srgbClr val="475569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38" name="Google Shape;138;p17"/>
          <p:cNvCxnSpPr/>
          <p:nvPr/>
        </p:nvCxnSpPr>
        <p:spPr>
          <a:xfrm>
            <a:off x="2295525" y="2905125"/>
            <a:ext cx="228600" cy="9600"/>
          </a:xfrm>
          <a:prstGeom prst="straightConnector1">
            <a:avLst/>
          </a:prstGeom>
          <a:noFill/>
          <a:ln cap="flat" cmpd="sng" w="25400">
            <a:solidFill>
              <a:srgbClr val="CBD5E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39" name="Google Shape;13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8425" y="1724025"/>
            <a:ext cx="1704975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2718435" y="1804035"/>
            <a:ext cx="15639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88">
                <a:solidFill>
                  <a:srgbClr val="2563EB"/>
                </a:solidFill>
                <a:latin typeface="IBM Plex Sans"/>
                <a:ea typeface="IBM Plex Sans"/>
                <a:cs typeface="IBM Plex Sans"/>
                <a:sym typeface="IBM Plex Sans"/>
              </a:rPr>
              <a:t>02</a:t>
            </a:r>
            <a:endParaRPr b="1" sz="2888">
              <a:solidFill>
                <a:srgbClr val="2563E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2718435" y="2373110"/>
            <a:ext cx="1563900" cy="7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66">
                <a:solidFill>
                  <a:srgbClr val="0F172A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Intent synthesis</a:t>
            </a:r>
            <a:endParaRPr b="1" sz="1866">
              <a:solidFill>
                <a:srgbClr val="0F172A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2718435" y="3070687"/>
            <a:ext cx="1563900" cy="9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8">
                <a:solidFill>
                  <a:srgbClr val="475569"/>
                </a:solidFill>
                <a:latin typeface="IBM Plex Sans"/>
                <a:ea typeface="IBM Plex Sans"/>
                <a:cs typeface="IBM Plex Sans"/>
                <a:sym typeface="IBM Plex Sans"/>
              </a:rPr>
              <a:t>Generate realistic user intents and goals for each API capability.</a:t>
            </a:r>
            <a:endParaRPr sz="1138">
              <a:solidFill>
                <a:srgbClr val="475569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43" name="Google Shape;143;p17"/>
          <p:cNvCxnSpPr/>
          <p:nvPr/>
        </p:nvCxnSpPr>
        <p:spPr>
          <a:xfrm>
            <a:off x="4457700" y="2905125"/>
            <a:ext cx="228600" cy="9600"/>
          </a:xfrm>
          <a:prstGeom prst="straightConnector1">
            <a:avLst/>
          </a:prstGeom>
          <a:noFill/>
          <a:ln cap="flat" cmpd="sng" w="25400">
            <a:solidFill>
              <a:srgbClr val="CBD5E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44" name="Google Shape;14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0600" y="1724025"/>
            <a:ext cx="1704975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4880610" y="1804035"/>
            <a:ext cx="15639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88">
                <a:solidFill>
                  <a:srgbClr val="10B981"/>
                </a:solidFill>
                <a:latin typeface="IBM Plex Sans"/>
                <a:ea typeface="IBM Plex Sans"/>
                <a:cs typeface="IBM Plex Sans"/>
                <a:sym typeface="IBM Plex Sans"/>
              </a:rPr>
              <a:t>03</a:t>
            </a:r>
            <a:endParaRPr b="1" sz="2888">
              <a:solidFill>
                <a:srgbClr val="10B98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4880610" y="2373110"/>
            <a:ext cx="1563900" cy="7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66">
                <a:solidFill>
                  <a:srgbClr val="0F172A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Trajectory generation</a:t>
            </a:r>
            <a:endParaRPr b="1" sz="1866">
              <a:solidFill>
                <a:srgbClr val="0F172A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4880610" y="3070687"/>
            <a:ext cx="1563900" cy="9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8">
                <a:solidFill>
                  <a:srgbClr val="475569"/>
                </a:solidFill>
                <a:latin typeface="IBM Plex Sans"/>
                <a:ea typeface="IBM Plex Sans"/>
                <a:cs typeface="IBM Plex Sans"/>
                <a:sym typeface="IBM Plex Sans"/>
              </a:rPr>
              <a:t>Create multi-turn tool-use traces with calls, parameters, and reasoning.</a:t>
            </a:r>
            <a:endParaRPr sz="1138">
              <a:solidFill>
                <a:srgbClr val="475569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48" name="Google Shape;148;p17"/>
          <p:cNvCxnSpPr/>
          <p:nvPr/>
        </p:nvCxnSpPr>
        <p:spPr>
          <a:xfrm>
            <a:off x="6619875" y="2905125"/>
            <a:ext cx="228600" cy="9600"/>
          </a:xfrm>
          <a:prstGeom prst="straightConnector1">
            <a:avLst/>
          </a:prstGeom>
          <a:noFill/>
          <a:ln cap="flat" cmpd="sng" w="25400">
            <a:solidFill>
              <a:srgbClr val="CBD5E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49" name="Google Shape;14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62775" y="1724025"/>
            <a:ext cx="1704975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7042785" y="1804035"/>
            <a:ext cx="15639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88">
                <a:solidFill>
                  <a:srgbClr val="10B981"/>
                </a:solidFill>
                <a:latin typeface="IBM Plex Sans"/>
                <a:ea typeface="IBM Plex Sans"/>
                <a:cs typeface="IBM Plex Sans"/>
                <a:sym typeface="IBM Plex Sans"/>
              </a:rPr>
              <a:t>04</a:t>
            </a:r>
            <a:endParaRPr b="1" sz="2888">
              <a:solidFill>
                <a:srgbClr val="10B98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7042785" y="2373110"/>
            <a:ext cx="1563900" cy="7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66">
                <a:solidFill>
                  <a:srgbClr val="F7FAFC"/>
                </a:solidFill>
                <a:latin typeface="IBM Plex Sans"/>
                <a:ea typeface="IBM Plex Sans"/>
                <a:cs typeface="IBM Plex Sans"/>
                <a:sym typeface="IBM Plex Sans"/>
              </a:rPr>
              <a:t>Schema verification</a:t>
            </a:r>
            <a:endParaRPr b="1" sz="1866">
              <a:solidFill>
                <a:srgbClr val="F7FAFC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7042785" y="3070687"/>
            <a:ext cx="1563900" cy="9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87">
                <a:solidFill>
                  <a:srgbClr val="CBD5E1"/>
                </a:solidFill>
                <a:latin typeface="IBM Plex Sans"/>
                <a:ea typeface="IBM Plex Sans"/>
                <a:cs typeface="IBM Plex Sans"/>
                <a:sym typeface="IBM Plex Sans"/>
              </a:rPr>
              <a:t>Reject invalid traces with deterministic structural checks.</a:t>
            </a:r>
            <a:endParaRPr sz="1187">
              <a:solidFill>
                <a:srgbClr val="CBD5E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384810" y="4461510"/>
            <a:ext cx="83934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2563EB"/>
                </a:solidFill>
                <a:latin typeface="IBM Plex Sans"/>
                <a:ea typeface="IBM Plex Sans"/>
                <a:cs typeface="IBM Plex Sans"/>
                <a:sym typeface="IBM Plex Sans"/>
              </a:rPr>
              <a:t>SPECIFICATION → INTENT → TRAJECTORY → VERIFIED DATA</a:t>
            </a:r>
            <a:endParaRPr b="1" sz="1500">
              <a:solidFill>
                <a:srgbClr val="2563E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A43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 txBox="1"/>
          <p:nvPr/>
        </p:nvSpPr>
        <p:spPr>
          <a:xfrm>
            <a:off x="403860" y="251460"/>
            <a:ext cx="8355300" cy="7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66">
                <a:solidFill>
                  <a:srgbClr val="F7FAFC"/>
                </a:solidFill>
                <a:latin typeface="IBM Plex Sans"/>
                <a:ea typeface="IBM Plex Sans"/>
                <a:cs typeface="IBM Plex Sans"/>
                <a:sym typeface="IBM Plex Sans"/>
              </a:rPr>
              <a:t>Verification by construction</a:t>
            </a:r>
            <a:endParaRPr b="1" sz="3866">
              <a:solidFill>
                <a:srgbClr val="F7FAFC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422910" y="880110"/>
            <a:ext cx="74409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CBD5E1"/>
                </a:solidFill>
                <a:latin typeface="IBM Plex Sans"/>
                <a:ea typeface="IBM Plex Sans"/>
                <a:cs typeface="IBM Plex Sans"/>
                <a:sym typeface="IBM Plex Sans"/>
              </a:rPr>
              <a:t>Every generated step is checked against the source schema.</a:t>
            </a:r>
            <a:endParaRPr sz="1800">
              <a:solidFill>
                <a:srgbClr val="CBD5E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160" name="Google Shape;16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300" y="1657350"/>
            <a:ext cx="4953000" cy="232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613410" y="1775460"/>
            <a:ext cx="47358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21">
                <a:solidFill>
                  <a:srgbClr val="10B981"/>
                </a:solidFill>
                <a:latin typeface="IBM Plex Sans"/>
                <a:ea typeface="IBM Plex Sans"/>
                <a:cs typeface="IBM Plex Sans"/>
                <a:sym typeface="IBM Plex Sans"/>
              </a:rPr>
              <a:t>DETERMINISTIC CHECKS</a:t>
            </a:r>
            <a:endParaRPr b="1" sz="1521">
              <a:solidFill>
                <a:srgbClr val="10B98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704850" y="2248210"/>
            <a:ext cx="228600" cy="2286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956310" y="2137720"/>
            <a:ext cx="439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7FAFC"/>
                </a:solidFill>
                <a:latin typeface="IBM Plex Sans"/>
                <a:ea typeface="IBM Plex Sans"/>
                <a:cs typeface="IBM Plex Sans"/>
                <a:sym typeface="IBM Plex Sans"/>
              </a:rPr>
              <a:t>Endpoint and method exist</a:t>
            </a:r>
            <a:endParaRPr sz="1500">
              <a:solidFill>
                <a:srgbClr val="F7FAFC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704850" y="2666380"/>
            <a:ext cx="228600" cy="2286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956310" y="2555890"/>
            <a:ext cx="439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7FAFC"/>
                </a:solidFill>
                <a:latin typeface="IBM Plex Sans"/>
                <a:ea typeface="IBM Plex Sans"/>
                <a:cs typeface="IBM Plex Sans"/>
                <a:sym typeface="IBM Plex Sans"/>
              </a:rPr>
              <a:t>Required parameters are present</a:t>
            </a:r>
            <a:endParaRPr sz="1500">
              <a:solidFill>
                <a:srgbClr val="F7FAFC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704850" y="3084551"/>
            <a:ext cx="228600" cy="2286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956310" y="2974061"/>
            <a:ext cx="439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7FAFC"/>
                </a:solidFill>
                <a:latin typeface="IBM Plex Sans"/>
                <a:ea typeface="IBM Plex Sans"/>
                <a:cs typeface="IBM Plex Sans"/>
                <a:sym typeface="IBM Plex Sans"/>
              </a:rPr>
              <a:t>Types and formats match</a:t>
            </a:r>
            <a:endParaRPr sz="1500">
              <a:solidFill>
                <a:srgbClr val="F7FAFC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704850" y="3502722"/>
            <a:ext cx="228600" cy="2286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956310" y="3392232"/>
            <a:ext cx="439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7FAFC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Trajectory structure is complete</a:t>
            </a:r>
            <a:endParaRPr sz="1500">
              <a:solidFill>
                <a:srgbClr val="F7FAFC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170" name="Google Shape;17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38800" y="1657350"/>
            <a:ext cx="30099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48350" y="1866900"/>
            <a:ext cx="640935" cy="6409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78317" y="199686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5756910" y="2576628"/>
            <a:ext cx="2792700" cy="6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94">
                <a:solidFill>
                  <a:srgbClr val="0F2A43"/>
                </a:solidFill>
                <a:latin typeface="IBM Plex Sans"/>
                <a:ea typeface="IBM Plex Sans"/>
                <a:cs typeface="IBM Plex Sans"/>
                <a:sym typeface="IBM Plex Sans"/>
              </a:rPr>
              <a:t>Invalid traces never enter the dataset.</a:t>
            </a:r>
            <a:endParaRPr b="1" sz="1694">
              <a:solidFill>
                <a:srgbClr val="0F2A4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5756910" y="3253170"/>
            <a:ext cx="27927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475569"/>
                </a:solidFill>
                <a:latin typeface="IBM Plex Sans"/>
                <a:ea typeface="IBM Plex Sans"/>
                <a:cs typeface="IBM Plex Sans"/>
                <a:sym typeface="IBM Plex Sans"/>
              </a:rPr>
              <a:t>Verification becomes a data-quality gate.</a:t>
            </a:r>
            <a:endParaRPr sz="1400">
              <a:solidFill>
                <a:srgbClr val="475569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175" name="Google Shape;175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5300" y="4343400"/>
            <a:ext cx="81534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 txBox="1"/>
          <p:nvPr/>
        </p:nvSpPr>
        <p:spPr>
          <a:xfrm>
            <a:off x="575310" y="4356735"/>
            <a:ext cx="51549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7FAFC"/>
                </a:solidFill>
                <a:latin typeface="IBM Plex Sans"/>
                <a:ea typeface="IBM Plex Sans"/>
                <a:cs typeface="IBM Plex Sans"/>
                <a:sym typeface="IBM Plex Sans"/>
              </a:rPr>
              <a:t>No live API response is required for validation.</a:t>
            </a:r>
            <a:endParaRPr sz="1500">
              <a:solidFill>
                <a:srgbClr val="F7FAFC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77" name="Google Shape;177;p18"/>
          <p:cNvSpPr txBox="1"/>
          <p:nvPr/>
        </p:nvSpPr>
        <p:spPr>
          <a:xfrm>
            <a:off x="6290310" y="4356735"/>
            <a:ext cx="2297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77">
                <a:solidFill>
                  <a:srgbClr val="10B981"/>
                </a:solidFill>
                <a:latin typeface="IBM Plex Sans"/>
                <a:ea typeface="IBM Plex Sans"/>
                <a:cs typeface="IBM Plex Sans"/>
                <a:sym typeface="IBM Plex Sans"/>
              </a:rPr>
              <a:t>SAFE · REPEATABLE · AUDITABLE</a:t>
            </a:r>
            <a:endParaRPr b="1" sz="977">
              <a:solidFill>
                <a:srgbClr val="10B98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9"/>
          <p:cNvSpPr txBox="1"/>
          <p:nvPr/>
        </p:nvSpPr>
        <p:spPr>
          <a:xfrm>
            <a:off x="403860" y="251460"/>
            <a:ext cx="8355300" cy="7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66">
                <a:solidFill>
                  <a:srgbClr val="0F2A43"/>
                </a:solidFill>
                <a:latin typeface="IBM Plex Sans"/>
                <a:ea typeface="IBM Plex Sans"/>
                <a:cs typeface="IBM Plex Sans"/>
                <a:sym typeface="IBM Plex Sans"/>
              </a:rPr>
              <a:t>Evaluation design</a:t>
            </a:r>
            <a:endParaRPr b="1" sz="3866">
              <a:solidFill>
                <a:srgbClr val="0F2A4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3" name="Google Shape;183;p19"/>
          <p:cNvSpPr txBox="1"/>
          <p:nvPr/>
        </p:nvSpPr>
        <p:spPr>
          <a:xfrm>
            <a:off x="422910" y="880110"/>
            <a:ext cx="80124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75569"/>
                </a:solidFill>
                <a:latin typeface="IBM Plex Sans"/>
                <a:ea typeface="IBM Plex Sans"/>
                <a:cs typeface="IBM Plex Sans"/>
                <a:sym typeface="IBM Plex Sans"/>
              </a:rPr>
              <a:t>A compact downstream test of whether synthesized traces transfer.</a:t>
            </a:r>
            <a:endParaRPr sz="1800">
              <a:solidFill>
                <a:srgbClr val="475569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184" name="Google Shape;1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300" y="1600200"/>
            <a:ext cx="2533650" cy="257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 txBox="1"/>
          <p:nvPr/>
        </p:nvSpPr>
        <p:spPr>
          <a:xfrm>
            <a:off x="613410" y="1718310"/>
            <a:ext cx="23166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2563EB"/>
                </a:solidFill>
                <a:latin typeface="IBM Plex Sans"/>
                <a:ea typeface="IBM Plex Sans"/>
                <a:cs typeface="IBM Plex Sans"/>
                <a:sym typeface="IBM Plex Sans"/>
              </a:rPr>
              <a:t>HELD-OUT DOMAIN</a:t>
            </a:r>
            <a:endParaRPr b="1" sz="1350">
              <a:solidFill>
                <a:srgbClr val="2563E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6" name="Google Shape;186;p19"/>
          <p:cNvSpPr txBox="1"/>
          <p:nvPr/>
        </p:nvSpPr>
        <p:spPr>
          <a:xfrm>
            <a:off x="613410" y="2118360"/>
            <a:ext cx="23166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50">
                <a:solidFill>
                  <a:srgbClr val="0F2A43"/>
                </a:solidFill>
                <a:latin typeface="IBM Plex Sans"/>
                <a:ea typeface="IBM Plex Sans"/>
                <a:cs typeface="IBM Plex Sans"/>
                <a:sym typeface="IBM Plex Sans"/>
              </a:rPr>
              <a:t>Zoom</a:t>
            </a:r>
            <a:endParaRPr b="1" sz="3750">
              <a:solidFill>
                <a:srgbClr val="0F2A4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7" name="Google Shape;187;p19"/>
          <p:cNvSpPr txBox="1"/>
          <p:nvPr/>
        </p:nvSpPr>
        <p:spPr>
          <a:xfrm>
            <a:off x="613410" y="2937510"/>
            <a:ext cx="2316600" cy="10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41">
                <a:solidFill>
                  <a:srgbClr val="475569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Compare the untuned base model with a model fine-tuned on EnterpriseSynth data.</a:t>
            </a:r>
            <a:endParaRPr sz="1241">
              <a:solidFill>
                <a:srgbClr val="475569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188" name="Google Shape;18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0400" y="1600200"/>
            <a:ext cx="2533650" cy="257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9"/>
          <p:cNvSpPr txBox="1"/>
          <p:nvPr/>
        </p:nvSpPr>
        <p:spPr>
          <a:xfrm>
            <a:off x="3318510" y="1718310"/>
            <a:ext cx="23166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2563EB"/>
                </a:solidFill>
                <a:latin typeface="IBM Plex Sans"/>
                <a:ea typeface="IBM Plex Sans"/>
                <a:cs typeface="IBM Plex Sans"/>
                <a:sym typeface="IBM Plex Sans"/>
              </a:rPr>
              <a:t>MODEL</a:t>
            </a:r>
            <a:endParaRPr b="1" sz="1350">
              <a:solidFill>
                <a:srgbClr val="2563E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0" name="Google Shape;190;p19"/>
          <p:cNvSpPr txBox="1"/>
          <p:nvPr/>
        </p:nvSpPr>
        <p:spPr>
          <a:xfrm>
            <a:off x="3318510" y="2118360"/>
            <a:ext cx="23166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25">
                <a:solidFill>
                  <a:srgbClr val="0F2A43"/>
                </a:solidFill>
                <a:latin typeface="IBM Plex Sans"/>
                <a:ea typeface="IBM Plex Sans"/>
                <a:cs typeface="IBM Plex Sans"/>
                <a:sym typeface="IBM Plex Sans"/>
              </a:rPr>
              <a:t>Qwen2.5-0.5B</a:t>
            </a:r>
            <a:endParaRPr b="1" sz="2525">
              <a:solidFill>
                <a:srgbClr val="0F2A4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1" name="Google Shape;191;p19"/>
          <p:cNvSpPr txBox="1"/>
          <p:nvPr/>
        </p:nvSpPr>
        <p:spPr>
          <a:xfrm>
            <a:off x="3318510" y="2937510"/>
            <a:ext cx="2316600" cy="10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72">
                <a:solidFill>
                  <a:srgbClr val="475569"/>
                </a:solidFill>
                <a:latin typeface="IBM Plex Sans"/>
                <a:ea typeface="IBM Plex Sans"/>
                <a:cs typeface="IBM Plex Sans"/>
                <a:sym typeface="IBM Plex Sans"/>
              </a:rPr>
              <a:t>LoRA fine-tuning measures whether a small model learns valid tool-use behavior.</a:t>
            </a:r>
            <a:endParaRPr sz="1272">
              <a:solidFill>
                <a:srgbClr val="475569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192" name="Google Shape;19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05500" y="1600200"/>
            <a:ext cx="2743200" cy="257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 txBox="1"/>
          <p:nvPr/>
        </p:nvSpPr>
        <p:spPr>
          <a:xfrm>
            <a:off x="6023610" y="1718310"/>
            <a:ext cx="25260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10B981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TRAINING SET</a:t>
            </a:r>
            <a:endParaRPr b="1" sz="1350">
              <a:solidFill>
                <a:srgbClr val="10B98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4" name="Google Shape;194;p19"/>
          <p:cNvSpPr txBox="1"/>
          <p:nvPr/>
        </p:nvSpPr>
        <p:spPr>
          <a:xfrm>
            <a:off x="6023610" y="2095024"/>
            <a:ext cx="2526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48">
                <a:solidFill>
                  <a:srgbClr val="F7FAFC"/>
                </a:solidFill>
                <a:latin typeface="IBM Plex Sans"/>
                <a:ea typeface="IBM Plex Sans"/>
                <a:cs typeface="IBM Plex Sans"/>
                <a:sym typeface="IBM Plex Sans"/>
              </a:rPr>
              <a:t>45</a:t>
            </a:r>
            <a:endParaRPr b="1" sz="5048">
              <a:solidFill>
                <a:srgbClr val="F7FAFC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5" name="Google Shape;195;p19"/>
          <p:cNvSpPr txBox="1"/>
          <p:nvPr/>
        </p:nvSpPr>
        <p:spPr>
          <a:xfrm>
            <a:off x="6023610" y="2991961"/>
            <a:ext cx="25260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80">
                <a:solidFill>
                  <a:srgbClr val="F7FAFC"/>
                </a:solidFill>
                <a:latin typeface="IBM Plex Sans"/>
                <a:ea typeface="IBM Plex Sans"/>
                <a:cs typeface="IBM Plex Sans"/>
                <a:sym typeface="IBM Plex Sans"/>
              </a:rPr>
              <a:t>examples</a:t>
            </a:r>
            <a:endParaRPr b="1" sz="1880">
              <a:solidFill>
                <a:srgbClr val="F7FAFC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6" name="Google Shape;196;p19"/>
          <p:cNvSpPr txBox="1"/>
          <p:nvPr/>
        </p:nvSpPr>
        <p:spPr>
          <a:xfrm>
            <a:off x="6023610" y="3404552"/>
            <a:ext cx="25260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CBD5E1"/>
                </a:solidFill>
                <a:latin typeface="IBM Plex Sans"/>
                <a:ea typeface="IBM Plex Sans"/>
                <a:cs typeface="IBM Plex Sans"/>
                <a:sym typeface="IBM Plex Sans"/>
              </a:rPr>
              <a:t>Three training epochs in the reported experiment.</a:t>
            </a:r>
            <a:endParaRPr sz="1500">
              <a:solidFill>
                <a:srgbClr val="CBD5E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7" name="Google Shape;197;p19"/>
          <p:cNvSpPr txBox="1"/>
          <p:nvPr/>
        </p:nvSpPr>
        <p:spPr>
          <a:xfrm>
            <a:off x="965835" y="4404360"/>
            <a:ext cx="25833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2563EB"/>
                </a:solidFill>
                <a:latin typeface="IBM Plex Sans"/>
                <a:ea typeface="IBM Plex Sans"/>
                <a:cs typeface="IBM Plex Sans"/>
                <a:sym typeface="IBM Plex Sans"/>
              </a:rPr>
              <a:t>Tool selection accuracy</a:t>
            </a:r>
            <a:endParaRPr b="1" sz="1500">
              <a:solidFill>
                <a:srgbClr val="2563E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3609975" y="4591050"/>
            <a:ext cx="76200" cy="76200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3766185" y="4404360"/>
            <a:ext cx="22974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0B981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Parameter validity</a:t>
            </a:r>
            <a:endParaRPr b="1" sz="1500">
              <a:solidFill>
                <a:srgbClr val="10B98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6124575" y="4591050"/>
            <a:ext cx="76200" cy="76200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6280785" y="4404360"/>
            <a:ext cx="19164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475569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Training loss</a:t>
            </a:r>
            <a:endParaRPr b="1" sz="1500">
              <a:solidFill>
                <a:srgbClr val="475569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0"/>
          <p:cNvSpPr txBox="1"/>
          <p:nvPr/>
        </p:nvSpPr>
        <p:spPr>
          <a:xfrm>
            <a:off x="346710" y="194310"/>
            <a:ext cx="8469600" cy="7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66">
                <a:solidFill>
                  <a:srgbClr val="0F2A43"/>
                </a:solidFill>
                <a:latin typeface="IBM Plex Sans"/>
                <a:ea typeface="IBM Plex Sans"/>
                <a:cs typeface="IBM Plex Sans"/>
                <a:sym typeface="IBM Plex Sans"/>
              </a:rPr>
              <a:t>Downstream agent evaluation</a:t>
            </a:r>
            <a:endParaRPr b="1" sz="3866">
              <a:solidFill>
                <a:srgbClr val="0F2A4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207" name="Google Shape;2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150" y="1066800"/>
            <a:ext cx="5619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7616" y="1162050"/>
            <a:ext cx="5380818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67450" y="1066800"/>
            <a:ext cx="24384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6309360" y="1089660"/>
            <a:ext cx="23736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50">
                <a:solidFill>
                  <a:srgbClr val="2563EB"/>
                </a:solidFill>
                <a:latin typeface="IBM Plex Sans"/>
                <a:ea typeface="IBM Plex Sans"/>
                <a:cs typeface="IBM Plex Sans"/>
                <a:sym typeface="IBM Plex Sans"/>
              </a:rPr>
              <a:t>12.5 → 87.5%</a:t>
            </a:r>
            <a:endParaRPr b="1" sz="2250">
              <a:solidFill>
                <a:srgbClr val="2563E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6309360" y="1565910"/>
            <a:ext cx="23736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475569"/>
                </a:solidFill>
                <a:latin typeface="IBM Plex Sans"/>
                <a:ea typeface="IBM Plex Sans"/>
                <a:cs typeface="IBM Plex Sans"/>
                <a:sym typeface="IBM Plex Sans"/>
              </a:rPr>
              <a:t>Tool selection accuracy</a:t>
            </a:r>
            <a:endParaRPr sz="1350">
              <a:solidFill>
                <a:srgbClr val="475569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212" name="Google Shape;212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67450" y="2190750"/>
            <a:ext cx="24384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/>
          <p:cNvSpPr txBox="1"/>
          <p:nvPr/>
        </p:nvSpPr>
        <p:spPr>
          <a:xfrm>
            <a:off x="6309360" y="2232660"/>
            <a:ext cx="2373600" cy="6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44">
                <a:solidFill>
                  <a:srgbClr val="047857"/>
                </a:solidFill>
                <a:latin typeface="IBM Plex Sans"/>
                <a:ea typeface="IBM Plex Sans"/>
                <a:cs typeface="IBM Plex Sans"/>
                <a:sym typeface="IBM Plex Sans"/>
              </a:rPr>
              <a:t>0 → 57.1%</a:t>
            </a:r>
            <a:endParaRPr b="1" sz="3044">
              <a:solidFill>
                <a:srgbClr val="047857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6309360" y="2732496"/>
            <a:ext cx="23736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475569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Parameter validity</a:t>
            </a:r>
            <a:endParaRPr sz="1350">
              <a:solidFill>
                <a:srgbClr val="475569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215" name="Google Shape;215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67450" y="3314700"/>
            <a:ext cx="24384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6309360" y="3356610"/>
            <a:ext cx="2373600" cy="6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44">
                <a:solidFill>
                  <a:srgbClr val="F7FAFC"/>
                </a:solidFill>
                <a:latin typeface="IBM Plex Sans"/>
                <a:ea typeface="IBM Plex Sans"/>
                <a:cs typeface="IBM Plex Sans"/>
                <a:sym typeface="IBM Plex Sans"/>
              </a:rPr>
              <a:t>.708 → .247</a:t>
            </a:r>
            <a:endParaRPr b="1" sz="3044">
              <a:solidFill>
                <a:srgbClr val="F7FAFC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6309360" y="3856446"/>
            <a:ext cx="23736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CBD5E1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Training loss, epoch 1→3</a:t>
            </a:r>
            <a:endParaRPr sz="1350">
              <a:solidFill>
                <a:srgbClr val="CBD5E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346710" y="4537710"/>
            <a:ext cx="84696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0">
                <a:solidFill>
                  <a:srgbClr val="0F2A43"/>
                </a:solidFill>
                <a:latin typeface="IBM Plex Sans"/>
                <a:ea typeface="IBM Plex Sans"/>
                <a:cs typeface="IBM Plex Sans"/>
                <a:sym typeface="IBM Plex Sans"/>
              </a:rPr>
              <a:t>A small fine-tuning set produces a large improvement on a held-out API.</a:t>
            </a:r>
            <a:endParaRPr b="1" sz="1650">
              <a:solidFill>
                <a:srgbClr val="0F2A4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1"/>
          <p:cNvSpPr txBox="1"/>
          <p:nvPr/>
        </p:nvSpPr>
        <p:spPr>
          <a:xfrm>
            <a:off x="403860" y="232410"/>
            <a:ext cx="8355300" cy="7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66">
                <a:solidFill>
                  <a:srgbClr val="0F2A43"/>
                </a:solidFill>
                <a:latin typeface="IBM Plex Sans"/>
                <a:ea typeface="IBM Plex Sans"/>
                <a:cs typeface="IBM Plex Sans"/>
                <a:sym typeface="IBM Plex Sans"/>
              </a:rPr>
              <a:t>What the results establish</a:t>
            </a:r>
            <a:endParaRPr b="1" sz="3866">
              <a:solidFill>
                <a:srgbClr val="0F2A4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224" name="Google Shape;22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300" y="1200150"/>
            <a:ext cx="4953000" cy="31623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1"/>
          <p:cNvSpPr txBox="1"/>
          <p:nvPr/>
        </p:nvSpPr>
        <p:spPr>
          <a:xfrm>
            <a:off x="632460" y="1337310"/>
            <a:ext cx="4697700" cy="5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047857"/>
                </a:solidFill>
                <a:latin typeface="IBM Plex Sans"/>
                <a:ea typeface="IBM Plex Sans"/>
                <a:cs typeface="IBM Plex Sans"/>
                <a:sym typeface="IBM Plex Sans"/>
              </a:rPr>
              <a:t>Evidence of viability</a:t>
            </a:r>
            <a:endParaRPr b="1" sz="2100">
              <a:solidFill>
                <a:srgbClr val="047857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226" name="Google Shape;22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3900" y="2057400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9625" y="214312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1"/>
          <p:cNvSpPr txBox="1"/>
          <p:nvPr/>
        </p:nvSpPr>
        <p:spPr>
          <a:xfrm>
            <a:off x="1165860" y="1918335"/>
            <a:ext cx="41643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F172A"/>
                </a:solidFill>
                <a:latin typeface="IBM Plex Sans"/>
                <a:ea typeface="IBM Plex Sans"/>
                <a:cs typeface="IBM Plex Sans"/>
                <a:sym typeface="IBM Plex Sans"/>
              </a:rPr>
              <a:t>SFT traces can be generated without live API calls.</a:t>
            </a:r>
            <a:endParaRPr sz="1500">
              <a:solidFill>
                <a:srgbClr val="0F172A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229" name="Google Shape;22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3900" y="2838450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9625" y="29241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1"/>
          <p:cNvSpPr txBox="1"/>
          <p:nvPr/>
        </p:nvSpPr>
        <p:spPr>
          <a:xfrm>
            <a:off x="1165860" y="2699385"/>
            <a:ext cx="41643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F172A"/>
                </a:solidFill>
                <a:latin typeface="IBM Plex Sans"/>
                <a:ea typeface="IBM Plex Sans"/>
                <a:cs typeface="IBM Plex Sans"/>
                <a:sym typeface="IBM Plex Sans"/>
              </a:rPr>
              <a:t>Schema checks provide a deterministic quality filter.</a:t>
            </a:r>
            <a:endParaRPr sz="1500">
              <a:solidFill>
                <a:srgbClr val="0F172A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232" name="Google Shape;23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3900" y="3619500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9625" y="370522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1"/>
          <p:cNvSpPr txBox="1"/>
          <p:nvPr/>
        </p:nvSpPr>
        <p:spPr>
          <a:xfrm>
            <a:off x="1165860" y="3480435"/>
            <a:ext cx="41643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F172A"/>
                </a:solidFill>
                <a:latin typeface="IBM Plex Sans"/>
                <a:ea typeface="IBM Plex Sans"/>
                <a:cs typeface="IBM Plex Sans"/>
                <a:sym typeface="IBM Plex Sans"/>
              </a:rPr>
              <a:t>Fine-tuning improves held-out tool-use behavior.</a:t>
            </a:r>
            <a:endParaRPr sz="1500">
              <a:solidFill>
                <a:srgbClr val="0F172A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235" name="Google Shape;235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57850" y="1200150"/>
            <a:ext cx="2990850" cy="3162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1"/>
          <p:cNvSpPr txBox="1"/>
          <p:nvPr/>
        </p:nvSpPr>
        <p:spPr>
          <a:xfrm>
            <a:off x="5795010" y="1337310"/>
            <a:ext cx="27357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2563EB"/>
                </a:solidFill>
                <a:latin typeface="IBM Plex Sans"/>
                <a:ea typeface="IBM Plex Sans"/>
                <a:cs typeface="IBM Plex Sans"/>
                <a:sym typeface="IBM Plex Sans"/>
              </a:rPr>
              <a:t>Current limits</a:t>
            </a:r>
            <a:endParaRPr b="1" sz="2100">
              <a:solidFill>
                <a:srgbClr val="2563E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5795010" y="1821003"/>
            <a:ext cx="2735700" cy="7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75569"/>
                </a:solidFill>
                <a:latin typeface="IBM Plex Sans"/>
                <a:ea typeface="IBM Plex Sans"/>
                <a:cs typeface="IBM Plex Sans"/>
                <a:sym typeface="IBM Plex Sans"/>
              </a:rPr>
              <a:t>45-example fine-tuning set</a:t>
            </a:r>
            <a:endParaRPr sz="1500">
              <a:solidFill>
                <a:srgbClr val="475569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5886450" y="2593197"/>
            <a:ext cx="25338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5795010" y="2671945"/>
            <a:ext cx="2735700" cy="7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75569"/>
                </a:solidFill>
                <a:latin typeface="IBM Plex Sans"/>
                <a:ea typeface="IBM Plex Sans"/>
                <a:cs typeface="IBM Plex Sans"/>
                <a:sym typeface="IBM Plex Sans"/>
              </a:rPr>
              <a:t>Single held-out API: Zoom</a:t>
            </a:r>
            <a:endParaRPr sz="1500">
              <a:solidFill>
                <a:srgbClr val="475569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5886450" y="3444139"/>
            <a:ext cx="25338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5795010" y="3522887"/>
            <a:ext cx="2735700" cy="7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75569"/>
                </a:solidFill>
                <a:latin typeface="IBM Plex Sans"/>
                <a:ea typeface="IBM Plex Sans"/>
                <a:cs typeface="IBM Plex Sans"/>
                <a:sym typeface="IBM Plex Sans"/>
              </a:rPr>
              <a:t>Single reported model: Qwen2.5-0.5B</a:t>
            </a:r>
            <a:endParaRPr sz="1500">
              <a:solidFill>
                <a:srgbClr val="475569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403860" y="4518660"/>
            <a:ext cx="83553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0">
                <a:solidFill>
                  <a:srgbClr val="0F2A43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experiment is a proof of concept—not yet a claim of broad generalization.</a:t>
            </a:r>
            <a:endParaRPr b="1" sz="1650">
              <a:solidFill>
                <a:srgbClr val="0F2A4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A43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2"/>
          <p:cNvSpPr txBox="1"/>
          <p:nvPr/>
        </p:nvSpPr>
        <p:spPr>
          <a:xfrm>
            <a:off x="1384935" y="1675886"/>
            <a:ext cx="6393300" cy="15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438">
                <a:solidFill>
                  <a:srgbClr val="F7FAFC"/>
                </a:solidFill>
                <a:latin typeface="IBM Plex Sans"/>
                <a:ea typeface="IBM Plex Sans"/>
                <a:cs typeface="IBM Plex Sans"/>
                <a:sym typeface="IBM Plex Sans"/>
              </a:rPr>
              <a:t>Thank you</a:t>
            </a:r>
            <a:endParaRPr b="1" sz="8438">
              <a:solidFill>
                <a:srgbClr val="F7FAFC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49" name="Google Shape;249;p22"/>
          <p:cNvSpPr txBox="1"/>
          <p:nvPr/>
        </p:nvSpPr>
        <p:spPr>
          <a:xfrm>
            <a:off x="422910" y="4747260"/>
            <a:ext cx="83172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7">
                <a:solidFill>
                  <a:srgbClr val="94A3B8"/>
                </a:solidFill>
                <a:latin typeface="IBM Plex Sans"/>
                <a:ea typeface="IBM Plex Sans"/>
                <a:cs typeface="IBM Plex Sans"/>
                <a:sym typeface="IBM Plex Sans"/>
              </a:rPr>
              <a:t>EnterpriseSynth · Research presentation</a:t>
            </a:r>
            <a:endParaRPr sz="1207">
              <a:solidFill>
                <a:srgbClr val="94A3B8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