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 Bold"/>
      <p:regular r:id="rId201314"/>
    </p:embeddedFont>
    <p:embeddedFont>
      <p:font typeface="Work Sans Bold"/>
      <p:regular r:id="rId201315"/>
    </p:embeddedFont>
    <p:embeddedFont>
      <p:font typeface="IBM Plex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EnterpriseSynth as a proof-of-concept for generating verified agent training and evaluation data directly from API schemas.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live API execution as the adoption bottleneck: sandbox access, privacy exposure, and infrastructure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question: can schema-aware synthesis produce useful tool-use data without executing APIs?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full EnterpriseSynth architecture shown in the paper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stages from schema parsing through deterministic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deterministic schema verification and why it matters for reliable offline data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held-out Zoom API evaluation and the small LoRA fine-tuning proof-of-concept.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gains in tool selection and parameter validity, plus the falling training loss across three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the proof-of-concept establishes from the limitations of the current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restate the central proof-of-concept, and invite questions and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533400" y="41910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spc="150" kern="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RESEARCH PRESENTATION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53957" y="580362"/>
            <a:ext cx="5554353" cy="23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2A43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EnterpriseSynth: Agentic SFT + Eval Data from API Schemas Without Live Execution 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05" y="3256952"/>
            <a:ext cx="1562100" cy="400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9405" y="3352202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OFFLINE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924" y="3256952"/>
            <a:ext cx="156210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31324" y="3352202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4785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VERIFIED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47700"/>
            <a:ext cx="2190750" cy="38481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1750" y="8382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OPENAPI SCHEMA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6381750" y="1219200"/>
            <a:ext cx="142875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Shape 7"/>
          <p:cNvSpPr/>
          <p:nvPr/>
        </p:nvSpPr>
        <p:spPr>
          <a:xfrm>
            <a:off x="6381750" y="1409700"/>
            <a:ext cx="17526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4" name="Shape 8"/>
          <p:cNvSpPr/>
          <p:nvPr/>
        </p:nvSpPr>
        <p:spPr>
          <a:xfrm>
            <a:off x="6381750" y="1600200"/>
            <a:ext cx="12192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9"/>
          <p:cNvSpPr/>
          <p:nvPr/>
        </p:nvSpPr>
        <p:spPr>
          <a:xfrm>
            <a:off x="6381750" y="1790700"/>
            <a:ext cx="1600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6" name="Shape 10"/>
          <p:cNvSpPr/>
          <p:nvPr/>
        </p:nvSpPr>
        <p:spPr>
          <a:xfrm>
            <a:off x="7267575" y="2324100"/>
            <a:ext cx="0" cy="49530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6191250" y="3009900"/>
            <a:ext cx="2152650" cy="1466850"/>
          </a:xfrm>
          <a:prstGeom prst="roundRect">
            <a:avLst>
              <a:gd name="adj" fmla="val 9091"/>
            </a:avLst>
          </a:prstGeom>
          <a:solidFill>
            <a:srgbClr val="0F2A43"/>
          </a:solidFill>
          <a:ln/>
        </p:spPr>
      </p:sp>
      <p:sp>
        <p:nvSpPr>
          <p:cNvPr id="18" name="Text 12"/>
          <p:cNvSpPr/>
          <p:nvPr/>
        </p:nvSpPr>
        <p:spPr>
          <a:xfrm>
            <a:off x="6381750" y="318135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VERIFIED TRACE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381750" y="3600450"/>
            <a:ext cx="266700" cy="2667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Shape 14"/>
          <p:cNvSpPr/>
          <p:nvPr/>
        </p:nvSpPr>
        <p:spPr>
          <a:xfrm>
            <a:off x="6762750" y="3600450"/>
            <a:ext cx="13525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Shape 15"/>
          <p:cNvSpPr/>
          <p:nvPr/>
        </p:nvSpPr>
        <p:spPr>
          <a:xfrm>
            <a:off x="6381750" y="400050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Shape 16"/>
          <p:cNvSpPr/>
          <p:nvPr/>
        </p:nvSpPr>
        <p:spPr>
          <a:xfrm>
            <a:off x="6762750" y="4000500"/>
            <a:ext cx="1066800" cy="95250"/>
          </a:xfrm>
          <a:prstGeom prst="roundRect">
            <a:avLst>
              <a:gd name="adj" fmla="val 50000"/>
            </a:avLst>
          </a:prstGeom>
          <a:solidFill>
            <a:srgbClr val="5B7FA3"/>
          </a:solidFill>
          <a:ln/>
        </p:spPr>
      </p:sp>
      <p:sp>
        <p:nvSpPr>
          <p:cNvPr id="23" name="Shape 17"/>
          <p:cNvSpPr/>
          <p:nvPr/>
        </p:nvSpPr>
        <p:spPr>
          <a:xfrm>
            <a:off x="7848600" y="3943350"/>
            <a:ext cx="266700" cy="2667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18"/>
          <p:cNvSpPr/>
          <p:nvPr/>
        </p:nvSpPr>
        <p:spPr>
          <a:xfrm>
            <a:off x="316055" y="46291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Schema-aware agentic framework · Proof of concept and viability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5300" y="285750"/>
            <a:ext cx="781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90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execution bottleneck</a:t>
            </a:r>
            <a:endParaRPr lang="en-US" sz="3990" dirty="0"/>
          </a:p>
        </p:txBody>
      </p:sp>
      <p:sp>
        <p:nvSpPr>
          <p:cNvPr id="4" name="Text 1"/>
          <p:cNvSpPr/>
          <p:nvPr/>
        </p:nvSpPr>
        <p:spPr>
          <a:xfrm>
            <a:off x="514350" y="10287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83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data generation assumes APIs can be called safely and repeatedly.</a:t>
            </a:r>
            <a:endParaRPr lang="en-US" sz="16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638300"/>
            <a:ext cx="2641600" cy="24955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850" y="2533650"/>
            <a:ext cx="218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Sandbox limits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04850" y="3028950"/>
            <a:ext cx="21844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APIs may be unavailable, costly, or impossible to execute in isolated environments.</a:t>
            </a:r>
            <a:endParaRPr lang="en-US" sz="127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1638300"/>
            <a:ext cx="2641600" cy="24955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79800" y="2533650"/>
            <a:ext cx="218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Privacy risk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3479800" y="3028950"/>
            <a:ext cx="21844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traces can expose credentials, sensitive data, and operational behavior.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0" y="1638300"/>
            <a:ext cx="2641600" cy="24955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54750" y="2533650"/>
            <a:ext cx="218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Rate constraints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6254750" y="3028950"/>
            <a:ext cx="21844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6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quotas and rate limits make large-scale trajectory collection brittle.</a:t>
            </a:r>
            <a:endParaRPr lang="en-US" sz="1406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0"/>
            <a:ext cx="8191500" cy="495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6750" y="45148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CORE QUESTION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2324100" y="4505325"/>
            <a:ext cx="6153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the specification itself become the data source?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4350" y="914400"/>
            <a:ext cx="80962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91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Useful agent behavior can be synthesized from structure—not execution.</a:t>
            </a:r>
            <a:endParaRPr lang="en-US" sz="3191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628900"/>
            <a:ext cx="2021840" cy="1295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847975"/>
            <a:ext cx="164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85800" y="3171825"/>
            <a:ext cx="1640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6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OpenAPI specification</a:t>
            </a:r>
            <a:endParaRPr lang="en-US" sz="1746" dirty="0"/>
          </a:p>
        </p:txBody>
      </p:sp>
      <p:sp>
        <p:nvSpPr>
          <p:cNvPr id="7" name="Shape 3"/>
          <p:cNvSpPr/>
          <p:nvPr/>
        </p:nvSpPr>
        <p:spPr>
          <a:xfrm>
            <a:off x="2660396" y="3276600"/>
            <a:ext cx="514350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headEnd type="none"/>
            <a:tailEnd type="triangle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70" y="2628900"/>
            <a:ext cx="2562860" cy="1295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81070" y="2847975"/>
            <a:ext cx="2181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PROCESS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481070" y="3171825"/>
            <a:ext cx="21818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6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Schema-aware synthesis</a:t>
            </a:r>
            <a:endParaRPr lang="en-US" sz="1746" dirty="0"/>
          </a:p>
        </p:txBody>
      </p:sp>
      <p:sp>
        <p:nvSpPr>
          <p:cNvPr id="11" name="Shape 6"/>
          <p:cNvSpPr/>
          <p:nvPr/>
        </p:nvSpPr>
        <p:spPr>
          <a:xfrm>
            <a:off x="5996686" y="3276600"/>
            <a:ext cx="514350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headEnd type="none"/>
            <a:tailEnd type="triangle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60" y="2628900"/>
            <a:ext cx="2021840" cy="1295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17360" y="2847975"/>
            <a:ext cx="164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817360" y="3171825"/>
            <a:ext cx="1640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6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Verified traces</a:t>
            </a:r>
            <a:endParaRPr lang="en-US" sz="1876" dirty="0"/>
          </a:p>
        </p:txBody>
      </p:sp>
      <p:sp>
        <p:nvSpPr>
          <p:cNvPr id="15" name="Shape 9"/>
          <p:cNvSpPr/>
          <p:nvPr/>
        </p:nvSpPr>
        <p:spPr>
          <a:xfrm>
            <a:off x="514350" y="453390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6" name="Text 10"/>
          <p:cNvSpPr/>
          <p:nvPr/>
        </p:nvSpPr>
        <p:spPr>
          <a:xfrm>
            <a:off x="1771650" y="4419600"/>
            <a:ext cx="685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API keys · Zero calls · Deterministic schema checks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85750"/>
            <a:ext cx="590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21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EnterpriseSynth at a glance</a:t>
            </a:r>
            <a:endParaRPr lang="en-US" sz="3521" dirty="0"/>
          </a:p>
        </p:txBody>
      </p:sp>
      <p:sp>
        <p:nvSpPr>
          <p:cNvPr id="4" name="Text 1"/>
          <p:cNvSpPr/>
          <p:nvPr/>
        </p:nvSpPr>
        <p:spPr>
          <a:xfrm>
            <a:off x="6877050" y="44767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SYSTEM OVERVIEW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990600"/>
            <a:ext cx="8267700" cy="35623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0754" y="1143000"/>
            <a:ext cx="4882493" cy="32575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57200" y="48006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3"/>
          <p:cNvSpPr/>
          <p:nvPr/>
        </p:nvSpPr>
        <p:spPr>
          <a:xfrm>
            <a:off x="1295400" y="4705350"/>
            <a:ext cx="739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stages convert an API schema into SFT and evaluation datasets.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23850"/>
            <a:ext cx="819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66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four-stage synthesis pipeline</a:t>
            </a:r>
            <a:endParaRPr lang="en-US" sz="3866" dirty="0"/>
          </a:p>
        </p:txBody>
      </p:sp>
      <p:sp>
        <p:nvSpPr>
          <p:cNvPr id="4" name="Text 1"/>
          <p:cNvSpPr/>
          <p:nvPr/>
        </p:nvSpPr>
        <p:spPr>
          <a:xfrm>
            <a:off x="495300" y="933450"/>
            <a:ext cx="781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stage narrows the space of possible agent behavior.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4975"/>
            <a:ext cx="1743075" cy="2400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7700" y="1895475"/>
            <a:ext cx="1362075" cy="4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8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01</a:t>
            </a:r>
            <a:endParaRPr lang="en-US" sz="2888" dirty="0"/>
          </a:p>
        </p:txBody>
      </p:sp>
      <p:sp>
        <p:nvSpPr>
          <p:cNvPr id="7" name="Text 3"/>
          <p:cNvSpPr/>
          <p:nvPr/>
        </p:nvSpPr>
        <p:spPr>
          <a:xfrm>
            <a:off x="647700" y="2464550"/>
            <a:ext cx="1362075" cy="56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66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API schema parsing</a:t>
            </a:r>
            <a:endParaRPr lang="en-US" sz="1866" dirty="0"/>
          </a:p>
        </p:txBody>
      </p:sp>
      <p:sp>
        <p:nvSpPr>
          <p:cNvPr id="8" name="Text 4"/>
          <p:cNvSpPr/>
          <p:nvPr/>
        </p:nvSpPr>
        <p:spPr>
          <a:xfrm>
            <a:off x="647700" y="3162127"/>
            <a:ext cx="1362075" cy="75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Extract endpoints, methods, parameters, schemas, and authentication descriptions.</a:t>
            </a:r>
            <a:endParaRPr lang="en-US" sz="910" dirty="0"/>
          </a:p>
        </p:txBody>
      </p:sp>
      <p:sp>
        <p:nvSpPr>
          <p:cNvPr id="9" name="Shape 5"/>
          <p:cNvSpPr/>
          <p:nvPr/>
        </p:nvSpPr>
        <p:spPr>
          <a:xfrm>
            <a:off x="2295525" y="2905125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1704975"/>
            <a:ext cx="1743075" cy="2400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09875" y="1895475"/>
            <a:ext cx="1362075" cy="4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8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02</a:t>
            </a:r>
            <a:endParaRPr lang="en-US" sz="2888" dirty="0"/>
          </a:p>
        </p:txBody>
      </p:sp>
      <p:sp>
        <p:nvSpPr>
          <p:cNvPr id="12" name="Text 7"/>
          <p:cNvSpPr/>
          <p:nvPr/>
        </p:nvSpPr>
        <p:spPr>
          <a:xfrm>
            <a:off x="2809875" y="2464550"/>
            <a:ext cx="1362075" cy="56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66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Intent synthesis</a:t>
            </a:r>
            <a:endParaRPr lang="en-US" sz="1866" dirty="0"/>
          </a:p>
        </p:txBody>
      </p:sp>
      <p:sp>
        <p:nvSpPr>
          <p:cNvPr id="13" name="Text 8"/>
          <p:cNvSpPr/>
          <p:nvPr/>
        </p:nvSpPr>
        <p:spPr>
          <a:xfrm>
            <a:off x="2809875" y="3162127"/>
            <a:ext cx="1362075" cy="75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realistic user intents and goals for each API capability.</a:t>
            </a:r>
            <a:endParaRPr lang="en-US" sz="1138" dirty="0"/>
          </a:p>
        </p:txBody>
      </p:sp>
      <p:sp>
        <p:nvSpPr>
          <p:cNvPr id="14" name="Shape 9"/>
          <p:cNvSpPr/>
          <p:nvPr/>
        </p:nvSpPr>
        <p:spPr>
          <a:xfrm>
            <a:off x="4457700" y="2905125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1704975"/>
            <a:ext cx="1743075" cy="2400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72050" y="1895475"/>
            <a:ext cx="1362075" cy="4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8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03</a:t>
            </a:r>
            <a:endParaRPr lang="en-US" sz="2888" dirty="0"/>
          </a:p>
        </p:txBody>
      </p:sp>
      <p:sp>
        <p:nvSpPr>
          <p:cNvPr id="17" name="Text 11"/>
          <p:cNvSpPr/>
          <p:nvPr/>
        </p:nvSpPr>
        <p:spPr>
          <a:xfrm>
            <a:off x="4972050" y="2464550"/>
            <a:ext cx="1362075" cy="56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66" dirty="0">
                <a:solidFill>
                  <a:srgbClr val="0F172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Trajectory generation</a:t>
            </a:r>
            <a:endParaRPr lang="en-US" sz="1866" dirty="0"/>
          </a:p>
        </p:txBody>
      </p:sp>
      <p:sp>
        <p:nvSpPr>
          <p:cNvPr id="18" name="Text 12"/>
          <p:cNvSpPr/>
          <p:nvPr/>
        </p:nvSpPr>
        <p:spPr>
          <a:xfrm>
            <a:off x="4972050" y="3162127"/>
            <a:ext cx="1362075" cy="75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multi-turn tool-use traces with calls, parameters, and reasoning.</a:t>
            </a:r>
            <a:endParaRPr lang="en-US" sz="1138" dirty="0"/>
          </a:p>
        </p:txBody>
      </p:sp>
      <p:sp>
        <p:nvSpPr>
          <p:cNvPr id="19" name="Shape 13"/>
          <p:cNvSpPr/>
          <p:nvPr/>
        </p:nvSpPr>
        <p:spPr>
          <a:xfrm>
            <a:off x="6619875" y="2905125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1704975"/>
            <a:ext cx="1743075" cy="2400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4225" y="1895475"/>
            <a:ext cx="1362075" cy="4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8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04</a:t>
            </a:r>
            <a:endParaRPr lang="en-US" sz="2888" dirty="0"/>
          </a:p>
        </p:txBody>
      </p:sp>
      <p:sp>
        <p:nvSpPr>
          <p:cNvPr id="22" name="Text 15"/>
          <p:cNvSpPr/>
          <p:nvPr/>
        </p:nvSpPr>
        <p:spPr>
          <a:xfrm>
            <a:off x="7134225" y="2464550"/>
            <a:ext cx="1362075" cy="56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66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 verification</a:t>
            </a:r>
            <a:endParaRPr lang="en-US" sz="1866" dirty="0"/>
          </a:p>
        </p:txBody>
      </p:sp>
      <p:sp>
        <p:nvSpPr>
          <p:cNvPr id="23" name="Text 16"/>
          <p:cNvSpPr/>
          <p:nvPr/>
        </p:nvSpPr>
        <p:spPr>
          <a:xfrm>
            <a:off x="7134225" y="3162127"/>
            <a:ext cx="1362075" cy="75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7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 invalid traces with deterministic structural checks.</a:t>
            </a:r>
            <a:endParaRPr lang="en-US" sz="1187" dirty="0"/>
          </a:p>
        </p:txBody>
      </p:sp>
      <p:sp>
        <p:nvSpPr>
          <p:cNvPr id="24" name="Text 17"/>
          <p:cNvSpPr/>
          <p:nvPr/>
        </p:nvSpPr>
        <p:spPr>
          <a:xfrm>
            <a:off x="476250" y="4552950"/>
            <a:ext cx="81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SPECIFICATION → INTENT → TRAJECTORY → VERIFIED DATA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5300" y="342900"/>
            <a:ext cx="8153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66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Verification by construction</a:t>
            </a:r>
            <a:endParaRPr lang="en-US" sz="3866" dirty="0"/>
          </a:p>
        </p:txBody>
      </p:sp>
      <p:sp>
        <p:nvSpPr>
          <p:cNvPr id="4" name="Text 1"/>
          <p:cNvSpPr/>
          <p:nvPr/>
        </p:nvSpPr>
        <p:spPr>
          <a:xfrm>
            <a:off x="514350" y="9715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generated step is checked against the source schema.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638300"/>
            <a:ext cx="4991100" cy="2362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850" y="1866900"/>
            <a:ext cx="4533900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1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DETERMINISTIC CHECKS</a:t>
            </a:r>
            <a:endParaRPr lang="en-US" sz="1521" dirty="0"/>
          </a:p>
        </p:txBody>
      </p:sp>
      <p:sp>
        <p:nvSpPr>
          <p:cNvPr id="7" name="Shape 3"/>
          <p:cNvSpPr/>
          <p:nvPr/>
        </p:nvSpPr>
        <p:spPr>
          <a:xfrm>
            <a:off x="704850" y="224821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1047750" y="222916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 and method exist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04850" y="26663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6"/>
          <p:cNvSpPr/>
          <p:nvPr/>
        </p:nvSpPr>
        <p:spPr>
          <a:xfrm>
            <a:off x="1047750" y="264733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parameters are present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04850" y="3084551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8"/>
          <p:cNvSpPr/>
          <p:nvPr/>
        </p:nvSpPr>
        <p:spPr>
          <a:xfrm>
            <a:off x="1047750" y="3065501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Types and formats match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04850" y="350272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0"/>
          <p:cNvSpPr/>
          <p:nvPr/>
        </p:nvSpPr>
        <p:spPr>
          <a:xfrm>
            <a:off x="1047750" y="3483672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Trajectory structure is complete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1638300"/>
            <a:ext cx="3048000" cy="2362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48350" y="2668068"/>
            <a:ext cx="2590800" cy="51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93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Invalid traces never enter the dataset.</a:t>
            </a:r>
            <a:endParaRPr lang="en-US" sz="1693" dirty="0"/>
          </a:p>
        </p:txBody>
      </p:sp>
      <p:sp>
        <p:nvSpPr>
          <p:cNvPr id="17" name="Text 12"/>
          <p:cNvSpPr/>
          <p:nvPr/>
        </p:nvSpPr>
        <p:spPr>
          <a:xfrm>
            <a:off x="5848350" y="3344610"/>
            <a:ext cx="2590800" cy="42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Verification becomes a data-quality gate.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324350"/>
            <a:ext cx="8191500" cy="495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6750" y="4448175"/>
            <a:ext cx="495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live API response is required for validation.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81750" y="4448175"/>
            <a:ext cx="2095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7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SAFE · REPEATABLE · AUDITABLE</a:t>
            </a:r>
            <a:endParaRPr lang="en-US" sz="97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5300" y="342900"/>
            <a:ext cx="8153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66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Evaluation design</a:t>
            </a:r>
            <a:endParaRPr lang="en-US" sz="3866" dirty="0"/>
          </a:p>
        </p:txBody>
      </p:sp>
      <p:sp>
        <p:nvSpPr>
          <p:cNvPr id="4" name="Text 1"/>
          <p:cNvSpPr/>
          <p:nvPr/>
        </p:nvSpPr>
        <p:spPr>
          <a:xfrm>
            <a:off x="514350" y="971550"/>
            <a:ext cx="781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compact downstream test of whether synthesized traces transfer.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581150"/>
            <a:ext cx="2571750" cy="26098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850" y="180975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HELD-OUT DOMAIN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04850" y="2209800"/>
            <a:ext cx="2114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Zoom</a:t>
            </a:r>
            <a:endParaRPr lang="en-US" sz="3750" dirty="0"/>
          </a:p>
        </p:txBody>
      </p:sp>
      <p:sp>
        <p:nvSpPr>
          <p:cNvPr id="8" name="Text 4"/>
          <p:cNvSpPr/>
          <p:nvPr/>
        </p:nvSpPr>
        <p:spPr>
          <a:xfrm>
            <a:off x="704850" y="3028950"/>
            <a:ext cx="2114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1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the untuned base model with a model fine-tuned on EnterpriseSynth data.</a:t>
            </a:r>
            <a:endParaRPr lang="en-US" sz="1241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581150"/>
            <a:ext cx="2571750" cy="26098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09950" y="180975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MODEL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409950" y="2209800"/>
            <a:ext cx="2114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25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Qwen2.5-0.5B</a:t>
            </a:r>
            <a:endParaRPr lang="en-US" sz="2525" dirty="0"/>
          </a:p>
        </p:txBody>
      </p:sp>
      <p:sp>
        <p:nvSpPr>
          <p:cNvPr id="12" name="Text 7"/>
          <p:cNvSpPr/>
          <p:nvPr/>
        </p:nvSpPr>
        <p:spPr>
          <a:xfrm>
            <a:off x="3409950" y="3028950"/>
            <a:ext cx="2114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LoRA fine-tuning measures whether a small model learns valid tool-use behavior.</a:t>
            </a:r>
            <a:endParaRPr lang="en-US" sz="1272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1581150"/>
            <a:ext cx="2781300" cy="26098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15050" y="1809750"/>
            <a:ext cx="2324100" cy="25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TRAINING SET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15050" y="2186464"/>
            <a:ext cx="2324100" cy="77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8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45</a:t>
            </a:r>
            <a:endParaRPr lang="en-US" sz="5048" dirty="0"/>
          </a:p>
        </p:txBody>
      </p:sp>
      <p:sp>
        <p:nvSpPr>
          <p:cNvPr id="16" name="Text 10"/>
          <p:cNvSpPr/>
          <p:nvPr/>
        </p:nvSpPr>
        <p:spPr>
          <a:xfrm>
            <a:off x="6115050" y="3083401"/>
            <a:ext cx="2324100" cy="28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9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examples</a:t>
            </a:r>
            <a:endParaRPr lang="en-US" sz="1879" dirty="0"/>
          </a:p>
        </p:txBody>
      </p:sp>
      <p:sp>
        <p:nvSpPr>
          <p:cNvPr id="17" name="Text 11"/>
          <p:cNvSpPr/>
          <p:nvPr/>
        </p:nvSpPr>
        <p:spPr>
          <a:xfrm>
            <a:off x="6115050" y="3495992"/>
            <a:ext cx="2324100" cy="46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training epochs in the reported experiment.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57275" y="44958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Tool selection accuracy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609975" y="4591050"/>
            <a:ext cx="76200" cy="7620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0" name="Text 14"/>
          <p:cNvSpPr/>
          <p:nvPr/>
        </p:nvSpPr>
        <p:spPr>
          <a:xfrm>
            <a:off x="3857625" y="44958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Parameter validity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24575" y="4591050"/>
            <a:ext cx="76200" cy="7620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2" name="Text 16"/>
          <p:cNvSpPr/>
          <p:nvPr/>
        </p:nvSpPr>
        <p:spPr>
          <a:xfrm>
            <a:off x="6372225" y="44958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Training loss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150" y="285750"/>
            <a:ext cx="82677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66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Downstream agent evaluation</a:t>
            </a:r>
            <a:endParaRPr lang="en-US" sz="386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047750"/>
            <a:ext cx="5657850" cy="33718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616" y="1162050"/>
            <a:ext cx="5380818" cy="31432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47750"/>
            <a:ext cx="2476500" cy="10287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400800" y="1181100"/>
            <a:ext cx="2171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12.5 → 87.5%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6400800" y="16573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selection accuracy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71700"/>
            <a:ext cx="2476500" cy="10287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400800" y="2324100"/>
            <a:ext cx="2171700" cy="46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44" dirty="0">
                <a:solidFill>
                  <a:srgbClr val="04785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 → 57.1%</a:t>
            </a:r>
            <a:endParaRPr lang="en-US" sz="3044" dirty="0"/>
          </a:p>
        </p:txBody>
      </p:sp>
      <p:sp>
        <p:nvSpPr>
          <p:cNvPr id="11" name="Text 4"/>
          <p:cNvSpPr/>
          <p:nvPr/>
        </p:nvSpPr>
        <p:spPr>
          <a:xfrm>
            <a:off x="6400800" y="2823936"/>
            <a:ext cx="2171700" cy="22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 validity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295650"/>
            <a:ext cx="2476500" cy="10287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400800" y="3448050"/>
            <a:ext cx="2171700" cy="46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44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.708 → .247</a:t>
            </a:r>
            <a:endParaRPr lang="en-US" sz="3044" dirty="0"/>
          </a:p>
        </p:txBody>
      </p:sp>
      <p:sp>
        <p:nvSpPr>
          <p:cNvPr id="14" name="Text 6"/>
          <p:cNvSpPr/>
          <p:nvPr/>
        </p:nvSpPr>
        <p:spPr>
          <a:xfrm>
            <a:off x="6400800" y="3947886"/>
            <a:ext cx="2171700" cy="22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loss, epoch 1→3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438150" y="4629150"/>
            <a:ext cx="8267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small fine-tuning set produces a large improvement on a held-out API.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5300" y="323850"/>
            <a:ext cx="8153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66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the results establish</a:t>
            </a:r>
            <a:endParaRPr lang="en-US" sz="386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181100"/>
            <a:ext cx="499110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142875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4785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Evidence of viability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038350"/>
            <a:ext cx="438150" cy="4381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57300" y="2009775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SFT traces can be generated without live API calls.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819400"/>
            <a:ext cx="438150" cy="4381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57300" y="2790825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checks provide a deterministic quality filter.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600450"/>
            <a:ext cx="438150" cy="4381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57300" y="3571875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Fine-tuning improves held-out tool-use behavior.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1181100"/>
            <a:ext cx="3028950" cy="32004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886450" y="1428750"/>
            <a:ext cx="2533650" cy="32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Current limits</a:t>
            </a:r>
            <a:endParaRPr lang="en-US" sz="2100" dirty="0"/>
          </a:p>
        </p:txBody>
      </p:sp>
      <p:sp>
        <p:nvSpPr>
          <p:cNvPr id="14" name="Text 6"/>
          <p:cNvSpPr/>
          <p:nvPr/>
        </p:nvSpPr>
        <p:spPr>
          <a:xfrm>
            <a:off x="5886450" y="1912443"/>
            <a:ext cx="2533650" cy="519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45-example fine-tuning set</a:t>
            </a:r>
            <a:endParaRPr lang="en-US" sz="1500" dirty="0"/>
          </a:p>
        </p:txBody>
      </p:sp>
      <p:sp>
        <p:nvSpPr>
          <p:cNvPr id="15" name="Shape 7"/>
          <p:cNvSpPr/>
          <p:nvPr/>
        </p:nvSpPr>
        <p:spPr>
          <a:xfrm>
            <a:off x="5886450" y="2593197"/>
            <a:ext cx="2533650" cy="895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8"/>
          <p:cNvSpPr/>
          <p:nvPr/>
        </p:nvSpPr>
        <p:spPr>
          <a:xfrm>
            <a:off x="5886450" y="2763385"/>
            <a:ext cx="2533650" cy="519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held-out API: Zoom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5886450" y="3444139"/>
            <a:ext cx="2533650" cy="895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0"/>
          <p:cNvSpPr/>
          <p:nvPr/>
        </p:nvSpPr>
        <p:spPr>
          <a:xfrm>
            <a:off x="5886450" y="3614327"/>
            <a:ext cx="2533650" cy="519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reported model: Qwen2.5-0.5B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495300" y="4610100"/>
            <a:ext cx="8153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F2A43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experiment is a proof of concept—not yet a claim of broad generalization.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76375" y="1767326"/>
            <a:ext cx="6191250" cy="1399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38" dirty="0">
                <a:solidFill>
                  <a:srgbClr val="F7FAF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Thank you</a:t>
            </a:r>
            <a:endParaRPr lang="en-US" sz="8438" dirty="0"/>
          </a:p>
        </p:txBody>
      </p:sp>
      <p:sp>
        <p:nvSpPr>
          <p:cNvPr id="5" name="Text 1"/>
          <p:cNvSpPr/>
          <p:nvPr/>
        </p:nvSpPr>
        <p:spPr>
          <a:xfrm>
            <a:off x="514350" y="4838700"/>
            <a:ext cx="811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7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EnterpriseSynth · Research presentation</a:t>
            </a:r>
            <a:endParaRPr lang="en-US" sz="120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2026-07-16T01:57:26Z</dcterms:created>
  <dcterms:modified xsi:type="dcterms:W3CDTF">2026-07-16T01:57:26Z</dcterms:modified>
</cp:coreProperties>
</file>